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sz="3400" b="1">
                <a:solidFill>
                  <a:srgbClr val="FFFFFF"/>
                </a:solidFill>
                <a:latin typeface="Calibri"/>
              </a:rPr>
              <a:t>Argument Passing</a:t>
            </a:r>
            <a:endParaRPr lang="en-US" sz="3400" dirty="0"/>
          </a:p>
          <a:p>
            <a:pPr marL="0" indent="0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Team ID: 18  |  Section: 4  |  Members: Shaik Juneeth – 2520030435, V Ashish Reddy – 2520030415, D Venkata Mahith – 2520030497  |  Guide: Ms. Soumya Enukonda</a:t>
            </a:r>
          </a:p>
          <a:p>
            <a:pPr marL="0" indent="0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Operating Systems and Systems Programming (OSSP, 25CS2104E)  |  KLH Bachupally Campus, CSE  |  PBL 2026–27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78308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B45309"/>
                </a:solidFill>
                <a:latin typeface="Calibri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sz="1250">
                <a:solidFill>
                  <a:srgbClr val="1E293B"/>
                </a:solidFill>
                <a:latin typeface="Calibri"/>
              </a:rPr>
              <a:t>Argument Passing is a Linux system-programming project showing how command-line values reach a C program through argc and argv when the OS starts a new process. It targets students learning process execution.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250">
                <a:solidFill>
                  <a:srgbClr val="1E293B"/>
                </a:solidFill>
                <a:latin typeface="Calibri"/>
              </a:rPr>
              <a:t>a C program that receives, validates and processes arguments (flags -h -c -u -r -s), plus a Flask web UI that runs it.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4023360"/>
            <a:ext cx="4844034" cy="242316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4114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BE185D"/>
                </a:solidFill>
                <a:latin typeface="Calibri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480560"/>
            <a:ext cx="4569714" cy="187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1E293B"/>
                </a:solidFill>
                <a:latin typeface="Calibri"/>
              </a:rPr>
              <a:t>Problem: </a:t>
            </a:r>
            <a:r>
              <a:rPr sz="1200">
                <a:solidFill>
                  <a:srgbClr val="1E293B"/>
                </a:solidFill>
                <a:latin typeface="Calibri"/>
              </a:rPr>
              <a:t>Programs need input at launch without interactive prompts; scanf() or hard-coded values force recompiling and block scripting.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1E293B"/>
                </a:solidFill>
                <a:latin typeface="Calibri"/>
              </a:rPr>
              <a:t>Objective 1: </a:t>
            </a:r>
            <a:r>
              <a:rPr sz="1200">
                <a:solidFill>
                  <a:srgbClr val="1E293B"/>
                </a:solidFill>
                <a:latin typeface="Calibri"/>
              </a:rPr>
              <a:t>Pass command-line arguments to a C program via argc and argv.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1E293B"/>
                </a:solidFill>
                <a:latin typeface="Calibri"/>
              </a:rPr>
              <a:t>Objective 2: </a:t>
            </a:r>
            <a:r>
              <a:rPr sz="1200">
                <a:solidFill>
                  <a:srgbClr val="1E293B"/>
                </a:solidFill>
                <a:latin typeface="Calibri"/>
              </a:rPr>
              <a:t>Compile with GCC, run on Linux and show each argument with its position.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1E293B"/>
                </a:solidFill>
                <a:latin typeface="Calibri"/>
              </a:rPr>
              <a:t>Objective 3: </a:t>
            </a:r>
            <a:r>
              <a:rPr sz="1200">
                <a:solidFill>
                  <a:srgbClr val="1E293B"/>
                </a:solidFill>
                <a:latin typeface="Calibri"/>
              </a:rPr>
              <a:t>Add flags (-h -c -u -r -s) with input validation and clear errors.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>
                <a:solidFill>
                  <a:srgbClr val="1E293B"/>
                </a:solidFill>
                <a:latin typeface="Calibri"/>
              </a:rPr>
              <a:t>Scope: </a:t>
            </a:r>
            <a:r>
              <a:rPr sz="1200">
                <a:solidFill>
                  <a:srgbClr val="1E293B"/>
                </a:solidFill>
                <a:latin typeface="Calibri"/>
              </a:rPr>
              <a:t>Linux terminal and Flask web UI; process startup, argv and exit status. No IPC beyond stdout/stderr.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583680"/>
            <a:ext cx="4844034" cy="292608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6751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1D4ED8"/>
                </a:solidFill>
                <a:latin typeface="Calibri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040880"/>
          <a:ext cx="457200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/>
                        <a:t>Aspect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/>
                        <a:t>Basic / Existing Approach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/>
                        <a:t>Proposed Project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Process handling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Input read only after start via scanf()/fgets(); values hard-coded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Arguments handed to the new process at startup via argc/argv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Communication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 standard way to pass several values in at launch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argv[] in; stdout, stderr and exit code returned to the caller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Resource handling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Recompile to change a value; hard to script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One binary reused with any input; no recompiling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Error handling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Bad input silently treated as 0 or ignored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getopt_long checks; stderr message and exit code 1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Key gap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Cannot automate or script input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Flags -h -c -u -r -s plus a web front end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646920"/>
            <a:ext cx="4844034" cy="278892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7383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15803D"/>
                </a:solidFill>
                <a:latin typeface="Calibri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10104120"/>
            <a:ext cx="4569714" cy="2240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1E293B"/>
                </a:solidFill>
                <a:latin typeface="Calibri"/>
              </a:rPr>
              <a:t>Technical: </a:t>
            </a:r>
            <a:r>
              <a:rPr sz="1250">
                <a:solidFill>
                  <a:srgbClr val="1E293B"/>
                </a:solidFill>
                <a:latin typeface="Calibri"/>
              </a:rPr>
              <a:t>C, GCC and Linux/Ubuntu with standard system interfaces (argc/argv, getopt_long); Flask for the web UI.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1E293B"/>
                </a:solidFill>
                <a:latin typeface="Calibri"/>
              </a:rPr>
              <a:t>Economic: </a:t>
            </a:r>
            <a:r>
              <a:rPr sz="1250">
                <a:solidFill>
                  <a:srgbClr val="1E293B"/>
                </a:solidFill>
                <a:latin typeface="Calibri"/>
              </a:rPr>
              <a:t>Fully open-source tools (GCC, Flask, VS Code, Git); no hardware or hosting cost.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1E293B"/>
                </a:solidFill>
                <a:latin typeface="Calibri"/>
              </a:rPr>
              <a:t>Operational: </a:t>
            </a:r>
            <a:r>
              <a:rPr sz="1250">
                <a:solidFill>
                  <a:srgbClr val="1E293B"/>
                </a:solidFill>
                <a:latin typeface="Calibri"/>
              </a:rPr>
              <a:t>Simple to run: one gcc command or python3 app.py; clear help text, error messages and exit codes.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1">
                <a:solidFill>
                  <a:srgbClr val="1E293B"/>
                </a:solidFill>
                <a:latin typeface="Calibri"/>
              </a:rPr>
              <a:t>Schedule: </a:t>
            </a:r>
            <a:r>
              <a:rPr sz="1250">
                <a:solidFill>
                  <a:srgbClr val="1E293B"/>
                </a:solidFill>
                <a:latin typeface="Calibri"/>
              </a:rPr>
              <a:t>Phased within the semester: problem submission, 1st review (basic argc/argv), flags and validation, web UI and testing.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0369A1"/>
                </a:solidFill>
                <a:latin typeface="Calibri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sz="1300" b="1">
                <a:solidFill>
                  <a:srgbClr val="1E293B"/>
                </a:solidFill>
                <a:latin typeface="Calibri"/>
              </a:rPr>
              <a:t>Programming: </a:t>
            </a:r>
            <a:r>
              <a:rPr sz="1300">
                <a:solidFill>
                  <a:srgbClr val="1E293B"/>
                </a:solidFill>
                <a:latin typeface="Calibri"/>
              </a:rPr>
              <a:t>C (backend), Python/Flask and HTML (web front end)</a:t>
            </a:r>
          </a:p>
          <a:p>
            <a:pPr marL="0" indent="0">
              <a:spcAft>
                <a:spcPts val="250"/>
              </a:spcAft>
              <a:buNone/>
            </a:pPr>
            <a:r>
              <a:rPr sz="1300" b="1">
                <a:solidFill>
                  <a:srgbClr val="1E293B"/>
                </a:solidFill>
                <a:latin typeface="Calibri"/>
              </a:rPr>
              <a:t>Platform: </a:t>
            </a:r>
            <a:r>
              <a:rPr sz="1300">
                <a:solidFill>
                  <a:srgbClr val="1E293B"/>
                </a:solidFill>
                <a:latin typeface="Calibri"/>
              </a:rPr>
              <a:t>Linux / Ubuntu (WSL or native)</a:t>
            </a:r>
          </a:p>
          <a:p>
            <a:pPr marL="0" indent="0">
              <a:spcAft>
                <a:spcPts val="250"/>
              </a:spcAft>
              <a:buNone/>
            </a:pPr>
            <a:r>
              <a:rPr sz="1300" b="1">
                <a:solidFill>
                  <a:srgbClr val="1E293B"/>
                </a:solidFill>
                <a:latin typeface="Calibri"/>
              </a:rPr>
              <a:t>OS Concepts: </a:t>
            </a:r>
            <a:r>
              <a:rPr sz="1300">
                <a:solidFill>
                  <a:srgbClr val="1E293B"/>
                </a:solidFill>
                <a:latin typeface="Calibri"/>
              </a:rPr>
              <a:t>Process creation and execution, command-line arguments, stdout/stderr streams, exit status</a:t>
            </a:r>
          </a:p>
          <a:p>
            <a:pPr marL="0" indent="0">
              <a:spcAft>
                <a:spcPts val="250"/>
              </a:spcAft>
              <a:buNone/>
            </a:pPr>
            <a:r>
              <a:rPr sz="1300" b="1">
                <a:solidFill>
                  <a:srgbClr val="1E293B"/>
                </a:solidFill>
                <a:latin typeface="Calibri"/>
              </a:rPr>
              <a:t>System Calls / APIs: </a:t>
            </a:r>
            <a:r>
              <a:rPr sz="1300">
                <a:solidFill>
                  <a:srgbClr val="1E293B"/>
                </a:solidFill>
                <a:latin typeface="Calibri"/>
              </a:rPr>
              <a:t>argc/argv, getopt_long(), fork()/exec() via shell or subprocess, exit codes</a:t>
            </a:r>
          </a:p>
          <a:p>
            <a:pPr marL="0" indent="0">
              <a:spcAft>
                <a:spcPts val="250"/>
              </a:spcAft>
              <a:buNone/>
            </a:pPr>
            <a:r>
              <a:rPr sz="1300" b="1">
                <a:solidFill>
                  <a:srgbClr val="1E293B"/>
                </a:solidFill>
                <a:latin typeface="Calibri"/>
              </a:rPr>
              <a:t>Tools: </a:t>
            </a:r>
            <a:r>
              <a:rPr sz="1300">
                <a:solidFill>
                  <a:srgbClr val="1E293B"/>
                </a:solidFill>
                <a:latin typeface="Calibri"/>
              </a:rPr>
              <a:t>GCC, VS Code, Git &amp; GitHub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6D28D9"/>
                </a:solidFill>
                <a:latin typeface="Calibri"/>
              </a:rPr>
              <a:t>System Workflow /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C2410C"/>
                </a:solidFill>
                <a:latin typeface="Calibri"/>
              </a:rPr>
              <a:t>Process, IPC &amp; Resource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0F766E"/>
                </a:solidFill>
                <a:latin typeface="Calibri"/>
              </a:rPr>
              <a:t>Implementation Screenshots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B91C1C"/>
                </a:solidFill>
                <a:latin typeface="Calibri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sz="1150" b="1">
                <a:solidFill>
                  <a:srgbClr val="1E293B"/>
                </a:solidFill>
                <a:latin typeface="Calibri"/>
              </a:rPr>
              <a:t>Sample: </a:t>
            </a:r>
            <a:r>
              <a:rPr sz="1150">
                <a:solidFill>
                  <a:srgbClr val="1E293B"/>
                </a:solidFill>
                <a:latin typeface="Calibri"/>
              </a:rPr>
              <a:t>-u -r alpha beta gamma prints GAMMA, BETA, ALPHA; -s 10 20 30.5 gives 60.5.</a:t>
            </a:r>
          </a:p>
          <a:p>
            <a:pPr marL="0" indent="0">
              <a:spcAft>
                <a:spcPts val="250"/>
              </a:spcAft>
              <a:buNone/>
            </a:pPr>
            <a:r>
              <a:rPr sz="1150" b="1">
                <a:solidFill>
                  <a:srgbClr val="1E293B"/>
                </a:solidFill>
                <a:latin typeface="Calibri"/>
              </a:rPr>
              <a:t>Tests: </a:t>
            </a:r>
            <a:r>
              <a:rPr sz="1150">
                <a:solidFill>
                  <a:srgbClr val="1E293B"/>
                </a:solidFill>
                <a:latin typeface="Calibri"/>
              </a:rPr>
              <a:t>normal, no arguments, combined flags, unknown flag, -s with text, -c with -s. Valid runs exit 0; errors exit 1 with a stderr message.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4D7C0F"/>
                </a:solidFill>
                <a:latin typeface="Calibri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</a:rPr>
              <a:t>Implemented a C program that receives command-line arguments via argc/argv and extends it with getopt_long flags, validation and a Flask web UI.</a:t>
            </a:r>
          </a:p>
          <a:p>
            <a:pPr marL="0" indent="0">
              <a:spcAft>
                <a:spcPts val="25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</a:rPr>
              <a:t>It meets all objectives and shows how the OS hands arguments to a new process at exec time.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b="1">
                <a:solidFill>
                  <a:srgbClr val="A21CAF"/>
                </a:solidFill>
                <a:latin typeface="Calibri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sz="1150" b="1">
                <a:solidFill>
                  <a:srgbClr val="1E293B"/>
                </a:solidFill>
                <a:latin typeface="Calibri"/>
              </a:rPr>
              <a:t>Enhancement 1: </a:t>
            </a:r>
            <a:r>
              <a:rPr sz="1150">
                <a:solidFill>
                  <a:srgbClr val="1E293B"/>
                </a:solidFill>
                <a:latin typeface="Calibri"/>
              </a:rPr>
              <a:t>File input and options with values (--name=value).</a:t>
            </a:r>
          </a:p>
          <a:p>
            <a:pPr marL="0" indent="0">
              <a:spcAft>
                <a:spcPts val="250"/>
              </a:spcAft>
              <a:buNone/>
            </a:pPr>
            <a:r>
              <a:rPr sz="1150" b="1">
                <a:solidFill>
                  <a:srgbClr val="1E293B"/>
                </a:solidFill>
                <a:latin typeface="Calibri"/>
              </a:rPr>
              <a:t>Enhancement 2: </a:t>
            </a:r>
            <a:r>
              <a:rPr sz="1150">
                <a:solidFill>
                  <a:srgbClr val="1E293B"/>
                </a:solidFill>
                <a:latin typeface="Calibri"/>
              </a:rPr>
              <a:t>Automated shell test suite; Windows/macOS support.</a:t>
            </a:r>
          </a:p>
          <a:p>
            <a:pPr marL="0" indent="0">
              <a:spcAft>
                <a:spcPts val="250"/>
              </a:spcAft>
              <a:buNone/>
            </a:pPr>
            <a:r>
              <a:rPr sz="1150" b="1">
                <a:solidFill>
                  <a:srgbClr val="1E293B"/>
                </a:solidFill>
                <a:latin typeface="Calibri"/>
              </a:rPr>
              <a:t>Enhancement 3: </a:t>
            </a:r>
            <a:r>
              <a:rPr sz="1150">
                <a:solidFill>
                  <a:srgbClr val="1E293B"/>
                </a:solidFill>
                <a:latin typeface="Calibri"/>
              </a:rPr>
              <a:t>Integrate into larger command-line tools.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</a:rPr>
              <a:t>References: [1] Linux man-pages (execve(2), getopt_long(3))  [2] Operating Systems textbook / course material (25CS2104E)  [3] GCC / GNU documentation  [4] Flask documentation</a:t>
            </a:r>
          </a:p>
          <a:p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</a:rPr>
              <a:t>GitHub: github.com/ashishreddy27/Team18_OSSP</a:t>
            </a:r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pic>
        <p:nvPicPr>
          <p:cNvPr id="47" name="Picture 4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678020"/>
            <a:ext cx="1188720" cy="56419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623560" y="507492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User input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Terminal command or web 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60" y="507492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Shell / Flask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parses command line, starts process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3960" y="507492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Linux kernel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fork() + exec() loads program, passes argv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23960" y="630936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main(argc, argv)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C program entry point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630936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getopt_long()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parses flags, validates input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23560" y="6309360"/>
            <a:ext cx="1371600" cy="73152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Output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stdout / stderr and exit code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995160" y="5440680"/>
            <a:ext cx="228600" cy="0"/>
          </a:xfrm>
          <a:prstGeom prst="line">
            <a:avLst/>
          </a:prstGeom>
          <a:ln w="22225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595360" y="5440680"/>
            <a:ext cx="228600" cy="0"/>
          </a:xfrm>
          <a:prstGeom prst="line">
            <a:avLst/>
          </a:prstGeom>
          <a:ln w="22225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509760" y="5806440"/>
            <a:ext cx="0" cy="502920"/>
          </a:xfrm>
          <a:prstGeom prst="line">
            <a:avLst/>
          </a:prstGeom>
          <a:ln w="22225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8595360" y="6675120"/>
            <a:ext cx="228600" cy="0"/>
          </a:xfrm>
          <a:prstGeom prst="line">
            <a:avLst/>
          </a:prstGeom>
          <a:ln w="22225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995160" y="6675120"/>
            <a:ext cx="228600" cy="0"/>
          </a:xfrm>
          <a:prstGeom prst="line">
            <a:avLst/>
          </a:prstGeom>
          <a:ln w="22225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23560" y="58795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D28D9"/>
                </a:solidFill>
                <a:latin typeface="Calibri"/>
              </a:rPr>
              <a:t>1 → 2 → 3: start-up path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15000" y="7973568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Parent process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Bash shell or Flask subprocess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41080" y="7973568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Child process</a:t>
            </a:r>
          </a:p>
          <a:p>
            <a:pPr algn="ctr"/>
            <a:r>
              <a:rPr sz="950">
                <a:solidFill>
                  <a:srgbClr val="334155"/>
                </a:solidFill>
                <a:latin typeface="Calibri"/>
              </a:rPr>
              <a:t>./arg_passing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96327" y="8001000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C2410C"/>
                </a:solidFill>
                <a:latin typeface="Calibri"/>
              </a:rPr>
              <a:t>fork() + exec(argv)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205472" y="8174736"/>
            <a:ext cx="1408176" cy="0"/>
          </a:xfrm>
          <a:prstGeom prst="line">
            <a:avLst/>
          </a:prstGeom>
          <a:ln w="22225">
            <a:solidFill>
              <a:srgbClr val="C241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96327" y="8284464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C2410C"/>
                </a:solidFill>
                <a:latin typeface="Calibri"/>
              </a:rPr>
              <a:t>stdout / stderr pipes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7205472" y="8458200"/>
            <a:ext cx="1408176" cy="0"/>
          </a:xfrm>
          <a:prstGeom prst="line">
            <a:avLst/>
          </a:prstGeom>
          <a:ln w="22225">
            <a:solidFill>
              <a:srgbClr val="C241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196327" y="8567928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C2410C"/>
                </a:solidFill>
                <a:latin typeface="Calibri"/>
              </a:rPr>
              <a:t>exit status via wait()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7205472" y="8741663"/>
            <a:ext cx="1408176" cy="0"/>
          </a:xfrm>
          <a:prstGeom prst="line">
            <a:avLst/>
          </a:prstGeom>
          <a:ln w="22225">
            <a:solidFill>
              <a:srgbClr val="C241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715000" y="888796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2410C"/>
                </a:solidFill>
                <a:latin typeface="Calibri"/>
              </a:rPr>
              <a:t>argv layout in the child (set up by the kernel at exec)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15000" y="9098280"/>
            <a:ext cx="6400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argc</a:t>
            </a:r>
          </a:p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57950" y="909828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argv[0]</a:t>
            </a:r>
          </a:p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./arg_passing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58100" y="9098280"/>
            <a:ext cx="7772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argv[1]</a:t>
            </a:r>
          </a:p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hello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38210" y="9098280"/>
            <a:ext cx="7772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argv[2]</a:t>
            </a:r>
          </a:p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world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18320" y="9098280"/>
            <a:ext cx="6858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argv[3]</a:t>
            </a:r>
          </a:p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NULL</a:t>
            </a:r>
          </a:p>
        </p:txBody>
      </p:sp>
      <p:pic>
        <p:nvPicPr>
          <p:cNvPr id="74" name="Picture 73" descr="sho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10515600"/>
            <a:ext cx="2216277" cy="1783080"/>
          </a:xfrm>
          <a:prstGeom prst="rect">
            <a:avLst/>
          </a:prstGeom>
          <a:ln w="12700">
            <a:solidFill>
              <a:srgbClr val="0F766E"/>
            </a:solidFill>
          </a:ln>
        </p:spPr>
      </p:pic>
      <p:pic>
        <p:nvPicPr>
          <p:cNvPr id="75" name="Picture 74" descr="sho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711" y="10515600"/>
            <a:ext cx="2216277" cy="1783080"/>
          </a:xfrm>
          <a:prstGeom prst="rect">
            <a:avLst/>
          </a:prstGeom>
          <a:ln w="12700">
            <a:solidFill>
              <a:srgbClr val="0F766E"/>
            </a:solidFill>
          </a:ln>
        </p:spPr>
      </p:pic>
      <p:pic>
        <p:nvPicPr>
          <p:cNvPr id="76" name="Picture 75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764" y="14301216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