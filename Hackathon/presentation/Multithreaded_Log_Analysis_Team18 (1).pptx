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4"/>
  </p:notesMasterIdLst>
  <p:handoutMasterIdLst>
    <p:handoutMasterId r:id="rId15"/>
  </p:handoutMasterIdLst>
  <p:sldIdLst>
    <p:sldId id="258" r:id="rId3"/>
    <p:sldId id="377" r:id="rId4"/>
    <p:sldId id="391" r:id="rId5"/>
    <p:sldId id="392" r:id="rId6"/>
    <p:sldId id="398" r:id="rId7"/>
    <p:sldId id="393" r:id="rId8"/>
    <p:sldId id="394" r:id="rId9"/>
    <p:sldId id="395" r:id="rId10"/>
    <p:sldId id="397" r:id="rId11"/>
    <p:sldId id="374" r:id="rId12"/>
    <p:sldId id="33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388" autoAdjust="0"/>
  </p:normalViewPr>
  <p:slideViewPr>
    <p:cSldViewPr snapToGrid="0" snapToObjects="1" showGuides="1">
      <p:cViewPr varScale="1">
        <p:scale>
          <a:sx n="83" d="100"/>
          <a:sy n="83" d="100"/>
        </p:scale>
        <p:origin x="72" y="106"/>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E0DA504A-D052-4F2D-906E-4CCCD67E5352}"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3C447009-55DF-4EA5-900B-29AFB7C8438A}"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FE8B550-430E-4E00-8584-398912EDCDA8}"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F3515C1-FC0C-48DC-AA13-5A7440F04A46}" type="datetime1">
              <a:rPr lang="en-IN" smtClean="0"/>
              <a:t>17-10-2026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06C4A9D0-F765-45B1-928F-556B91D2C522}" type="datetime1">
              <a:rPr lang="en-IN" smtClean="0"/>
              <a:t>17-10-2026</a:t>
            </a:fld>
            <a:endParaRPr lang="en-US"/>
          </a:p>
        </p:txBody>
      </p:sp>
      <p:sp>
        <p:nvSpPr>
          <p:cNvPr id="8" name="Footer Placeholder 7"/>
          <p:cNvSpPr>
            <a:spLocks noGrp="1"/>
          </p:cNvSpPr>
          <p:nvPr>
            <p:ph type="ftr" sz="quarter" idx="11"/>
          </p:nvPr>
        </p:nvSpPr>
        <p:spPr/>
        <p:txBody>
          <a:bodyPr/>
          <a:lstStyle/>
          <a:p>
            <a:r>
              <a:rPr lang="en-US"/>
              <a:t>0th REVIEW           </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420E6F3-7E24-4BDE-BB37-BD18A6966701}" type="datetime1">
              <a:rPr lang="en-IN" smtClean="0"/>
              <a:t>17-10-2026</a:t>
            </a:fld>
            <a:endParaRPr lang="en-US"/>
          </a:p>
        </p:txBody>
      </p:sp>
      <p:sp>
        <p:nvSpPr>
          <p:cNvPr id="4" name="Footer Placeholder 3"/>
          <p:cNvSpPr>
            <a:spLocks noGrp="1"/>
          </p:cNvSpPr>
          <p:nvPr>
            <p:ph type="ftr" sz="quarter" idx="11"/>
          </p:nvPr>
        </p:nvSpPr>
        <p:spPr/>
        <p:txBody>
          <a:bodyPr/>
          <a:lstStyle/>
          <a:p>
            <a:r>
              <a:rPr lang="en-US"/>
              <a:t>0th REVIEW           </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13449-4DF0-4F1F-A3E4-097B1714C7C4}" type="datetime1">
              <a:rPr lang="en-IN" smtClean="0"/>
              <a:t>17-10-2026</a:t>
            </a:fld>
            <a:endParaRPr lang="en-US"/>
          </a:p>
        </p:txBody>
      </p:sp>
      <p:sp>
        <p:nvSpPr>
          <p:cNvPr id="3" name="Footer Placeholder 2"/>
          <p:cNvSpPr>
            <a:spLocks noGrp="1"/>
          </p:cNvSpPr>
          <p:nvPr>
            <p:ph type="ftr" sz="quarter" idx="11"/>
          </p:nvPr>
        </p:nvSpPr>
        <p:spPr/>
        <p:txBody>
          <a:bodyPr/>
          <a:lstStyle/>
          <a:p>
            <a:r>
              <a:rPr lang="en-US"/>
              <a:t>0th REVIEW           </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CF4166F-CD67-4CEB-8DD7-1E38016562AC}" type="datetime1">
              <a:rPr lang="en-IN" smtClean="0"/>
              <a:t>17-10-2026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8F83E-6F8A-4D66-8D97-D167DE305BE2}" type="datetime1">
              <a:rPr lang="en-IN" smtClean="0"/>
              <a:t>17-10-2026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8FA3A21-9775-4B2C-9B39-32116406212C}"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43ABDC8-9AAF-4B62-9540-4EA826AA678B}"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F3821C3-0F1A-498D-9F2E-D10FACA35B86}"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119A7DA-FCDD-43FA-8A0C-6A5B2B391695}"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38D4BE-274D-4073-90F9-6DE45B427D7A}" type="datetime1">
              <a:rPr lang="en-IN" smtClean="0"/>
              <a:t>17-10-2026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C4DD2526-BF89-47C7-96E6-5B804E43EF11}" type="datetime1">
              <a:rPr lang="en-IN" smtClean="0"/>
              <a:t>17-10-2026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84827929-B24E-4CA0-A508-395AF785C673}" type="datetime1">
              <a:rPr lang="en-IN" smtClean="0"/>
              <a:t>17-10-2026</a:t>
            </a:fld>
            <a:endParaRPr lang="en-US"/>
          </a:p>
        </p:txBody>
      </p:sp>
      <p:sp>
        <p:nvSpPr>
          <p:cNvPr id="8" name="Footer Placeholder 7"/>
          <p:cNvSpPr>
            <a:spLocks noGrp="1"/>
          </p:cNvSpPr>
          <p:nvPr>
            <p:ph type="ftr" sz="quarter" idx="11"/>
          </p:nvPr>
        </p:nvSpPr>
        <p:spPr/>
        <p:txBody>
          <a:bodyPr/>
          <a:lstStyle/>
          <a:p>
            <a:r>
              <a:rPr lang="en-US"/>
              <a:t>0th REVIEW           </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17-10-2026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17-10-2026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9274" y="340555"/>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b="1" dirty="0">
                <a:cs typeface="Arial" panose="020B0604020202020204" pitchFamily="34" charset="0"/>
              </a:rPr>
            </a:br>
            <a:r>
              <a:rPr lang="en-US" sz="2800" b="1" dirty="0"/>
              <a:t>Multi-threaded Log Analysis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p:cNvSpPr>
            <a:spLocks noGrp="1"/>
          </p:cNvSpPr>
          <p:nvPr>
            <p:ph type="dt" sz="half" idx="10"/>
          </p:nvPr>
        </p:nvSpPr>
        <p:spPr/>
        <p:txBody>
          <a:bodyPr/>
          <a:lstStyle/>
          <a:p>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Operating Systems and Systems Programming (25CS2104E)</a:t>
            </a:r>
          </a:p>
          <a:p>
            <a:pPr marL="0" indent="0" algn="ctr">
              <a:buNone/>
            </a:pPr>
            <a:r>
              <a:rPr lang="en-US" sz="2400" dirty="0">
                <a:solidFill>
                  <a:srgbClr val="00B050"/>
                </a:solidFill>
              </a:rPr>
              <a:t>Section 4 – Team 18</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lgn="ctr">
              <a:buFont typeface="Arial" panose="020B0604020202020204" pitchFamily="34" charset="0"/>
              <a:buNone/>
            </a:pPr>
            <a:r>
              <a:rPr lang="en-US" sz="1800" dirty="0"/>
              <a:t>Under the Esteemed Guidance of</a:t>
            </a:r>
          </a:p>
          <a:p>
            <a:pPr marL="0" indent="0" algn="ctr">
              <a:buFont typeface="Arial" panose="020B0604020202020204" pitchFamily="34" charset="0"/>
              <a:buNone/>
            </a:pPr>
            <a:r>
              <a:rPr lang="en-US" sz="2000" b="1" dirty="0"/>
              <a:t>Ms. Soumya Enukonda</a:t>
            </a:r>
          </a:p>
        </p:txBody>
      </p:sp>
      <p:sp>
        <p:nvSpPr>
          <p:cNvPr id="4" name="Footer Placeholder 3"/>
          <p:cNvSpPr>
            <a:spLocks noGrp="1"/>
          </p:cNvSpPr>
          <p:nvPr>
            <p:ph type="ftr" sz="quarter" idx="11"/>
          </p:nvPr>
        </p:nvSpPr>
        <p:spPr/>
        <p:txBody>
          <a:bodyPr/>
          <a:lstStyle/>
          <a:p>
            <a:r>
              <a:rPr lang="en-US" dirty="0">
                <a:solidFill>
                  <a:schemeClr val="bg1"/>
                </a:solidFill>
              </a:rPr>
              <a:t>MULTI-THREADED LOG ANALYSIS SYSTEM           </a:t>
            </a: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p:cNvGraphicFramePr>
            <a:graphicFrameLocks noGrp="1"/>
          </p:cNvGraphicFramePr>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dirty="0"/>
                        <a:t>2520030435</a:t>
                      </a:r>
                    </a:p>
                  </a:txBody>
                  <a:tcPr/>
                </a:tc>
                <a:tc>
                  <a:txBody>
                    <a:bodyPr/>
                    <a:lstStyle/>
                    <a:p>
                      <a:r>
                        <a:rPr lang="en-US" dirty="0"/>
                        <a:t>SHAIK JUNEETH</a:t>
                      </a:r>
                    </a:p>
                  </a:txBody>
                  <a:tcPr/>
                </a:tc>
                <a:extLst>
                  <a:ext uri="{0D108BD9-81ED-4DB2-BD59-A6C34878D82A}">
                    <a16:rowId xmlns:a16="http://schemas.microsoft.com/office/drawing/2014/main" val="10000"/>
                  </a:ext>
                </a:extLst>
              </a:tr>
              <a:tr h="370840">
                <a:tc>
                  <a:txBody>
                    <a:bodyPr/>
                    <a:lstStyle/>
                    <a:p>
                      <a:r>
                        <a:rPr lang="en-US" dirty="0"/>
                        <a:t>2520030415</a:t>
                      </a:r>
                    </a:p>
                  </a:txBody>
                  <a:tcPr/>
                </a:tc>
                <a:tc>
                  <a:txBody>
                    <a:bodyPr/>
                    <a:lstStyle/>
                    <a:p>
                      <a:r>
                        <a:rPr lang="en-US" dirty="0"/>
                        <a:t>V ASHISH REDDY</a:t>
                      </a:r>
                    </a:p>
                  </a:txBody>
                  <a:tcPr/>
                </a:tc>
                <a:extLst>
                  <a:ext uri="{0D108BD9-81ED-4DB2-BD59-A6C34878D82A}">
                    <a16:rowId xmlns:a16="http://schemas.microsoft.com/office/drawing/2014/main" val="10001"/>
                  </a:ext>
                </a:extLst>
              </a:tr>
              <a:tr h="370840">
                <a:tc>
                  <a:txBody>
                    <a:bodyPr/>
                    <a:lstStyle/>
                    <a:p>
                      <a:r>
                        <a:rPr lang="en-US" dirty="0"/>
                        <a:t>2520030497</a:t>
                      </a:r>
                    </a:p>
                  </a:txBody>
                  <a:tcPr/>
                </a:tc>
                <a:tc>
                  <a:txBody>
                    <a:bodyPr/>
                    <a:lstStyle/>
                    <a:p>
                      <a:r>
                        <a:rPr lang="en-US" dirty="0"/>
                        <a:t>D VENKATA MAHITH</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TEAM NUMBER: 18  |  SECTION 4</a:t>
            </a:r>
            <a:endParaRPr lang="en-IN" sz="3200" b="1"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p:cNvGraphicFramePr>
            <a:graphicFrameLocks noGrp="1"/>
          </p:cNvGraphicFramePr>
          <p:nvPr>
            <p:ph idx="1"/>
          </p:nvPr>
        </p:nvGraphicFramePr>
        <p:xfrm>
          <a:off x="1251334" y="1548396"/>
          <a:ext cx="10091450" cy="3422640"/>
        </p:xfrm>
        <a:graphic>
          <a:graphicData uri="http://schemas.openxmlformats.org/drawingml/2006/table">
            <a:tbl>
              <a:tblPr firstRow="1" bandRow="1">
                <a:tableStyleId>{5A111915-BE36-4E01-A7E5-04B1672EAD32}</a:tableStyleId>
              </a:tblPr>
              <a:tblGrid>
                <a:gridCol w="5029658">
                  <a:extLst>
                    <a:ext uri="{9D8B030D-6E8A-4147-A177-3AD203B41FA5}">
                      <a16:colId xmlns:a16="http://schemas.microsoft.com/office/drawing/2014/main" val="20000"/>
                    </a:ext>
                  </a:extLst>
                </a:gridCol>
                <a:gridCol w="5061792">
                  <a:extLst>
                    <a:ext uri="{9D8B030D-6E8A-4147-A177-3AD203B41FA5}">
                      <a16:colId xmlns:a16="http://schemas.microsoft.com/office/drawing/2014/main" val="20001"/>
                    </a:ext>
                  </a:extLst>
                </a:gridCol>
              </a:tblGrid>
              <a:tr h="618480">
                <a:tc>
                  <a:txBody>
                    <a:bodyPr/>
                    <a:lstStyle/>
                    <a:p>
                      <a:pPr algn="ctr"/>
                      <a:r>
                        <a:rPr lang="en-US" dirty="0"/>
                        <a:t>Name of Candidate (Roll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Individual Responsibility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8617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sz="20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sz="2000" dirty="0">
                          <a:latin typeface="Times New Roman" panose="02020603050405020304" pitchFamily="18" charset="0"/>
                          <a:cs typeface="Times New Roman" panose="02020603050405020304" pitchFamily="18" charset="0"/>
                        </a:rPr>
                        <a:t>SHAIK JUNEETH (2520030435)</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dirty="0"/>
                        <a:t>Design and implementation of the multi-threaded log analyzer</a:t>
                      </a:r>
                      <a:endParaRPr 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86171">
                <a:tc>
                  <a:txBody>
                    <a:bodyPr/>
                    <a:lstStyle/>
                    <a:p>
                      <a:r>
                        <a:rPr lang="en-US" dirty="0"/>
                        <a:t> </a:t>
                      </a:r>
                    </a:p>
                    <a:p>
                      <a:pPr marL="0" marR="0" lvl="0" indent="0" algn="ctr" defTabSz="914400" rtl="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V ASHISH REDDY (2520030415)</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a:t>
                      </a:r>
                    </a:p>
                    <a:p>
                      <a:pPr algn="ctr"/>
                      <a:r>
                        <a:rPr lang="en-US" dirty="0"/>
                        <a:t>Linux execution, multi-thread testing, and GitHub management</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8617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 D VENKATA MAHITH (2520030497)</a:t>
                      </a:r>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b="0" dirty="0"/>
                        <a:t>        Documentation, output verification, and presentation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Multi-threaded Log Analysis System is a systems programming project that uses multiple threads to analyze large log files and identify errors, warnings, and suspicious events. The log file is divided into chunks, and each worker thread scans its own chunk in parallel.</a:t>
            </a:r>
          </a:p>
          <a:p>
            <a:r>
              <a:rPr lang="en-US" dirty="0">
                <a:latin typeface="Times New Roman" panose="02020603050405020304" pitchFamily="18" charset="0"/>
                <a:cs typeface="Times New Roman" panose="02020603050405020304" pitchFamily="18" charset="0"/>
              </a:rPr>
              <a:t>Threads classify every line by severity and by suspicious patterns such as repeated failed logins, then merge their findings into a shared summary protected by mutex locks. The solution is implemented in C with POSIX threads (pthreads) on Linux, showing how concurrency reduces analysis time compared with single-threaded processing.</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INTRODUCTION</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Modern servers and applications generate very large log files, and searching them manually for problems is slow and error-prone. Parallel processing with threads is a core concept in Operating Systems and Systems Programming, connecting concurrency, synchronization, and file I/O.</a:t>
            </a:r>
          </a:p>
          <a:p>
            <a:r>
              <a:rPr lang="en-US" dirty="0">
                <a:latin typeface="Times New Roman" panose="02020603050405020304" pitchFamily="18" charset="0"/>
                <a:cs typeface="Times New Roman" panose="02020603050405020304" pitchFamily="18" charset="0"/>
              </a:rPr>
              <a:t>This project analyzes large log files in a Linux environment using multiple threads:</a:t>
            </a:r>
          </a:p>
          <a:p>
            <a:pPr lvl="0"/>
            <a:r>
              <a:rPr lang="en-US" dirty="0">
                <a:latin typeface="Times New Roman" panose="02020603050405020304" pitchFamily="18" charset="0"/>
                <a:cs typeface="Times New Roman" panose="02020603050405020304" pitchFamily="18" charset="0"/>
              </a:rPr>
              <a:t>The log file is split into chunks, one for each worker thread.</a:t>
            </a:r>
          </a:p>
          <a:p>
            <a:pPr lvl="0"/>
            <a:r>
              <a:rPr lang="en-US" dirty="0">
                <a:latin typeface="Times New Roman" panose="02020603050405020304" pitchFamily="18" charset="0"/>
                <a:cs typeface="Times New Roman" panose="02020603050405020304" pitchFamily="18" charset="0"/>
              </a:rPr>
              <a:t>Each thread reads its chunk and classifies lines as ERROR, WARNING, or suspicious.</a:t>
            </a:r>
          </a:p>
          <a:p>
            <a:pPr lvl="0"/>
            <a:r>
              <a:rPr lang="en-US" dirty="0">
                <a:latin typeface="Times New Roman" panose="02020603050405020304" pitchFamily="18" charset="0"/>
                <a:cs typeface="Times New Roman" panose="02020603050405020304" pitchFamily="18" charset="0"/>
              </a:rPr>
              <a:t>Shared counters and result lists are protected with pthread mutexes to avoid race conditions.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PROBLEM STATEMENT</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Server and application logs grow to millions of lines, and scanning them with a single thread is slow.</a:t>
            </a:r>
          </a:p>
          <a:p>
            <a:r>
              <a:rPr lang="en-US" dirty="0">
                <a:latin typeface="Times New Roman" panose="02020603050405020304" pitchFamily="18" charset="0"/>
                <a:cs typeface="Times New Roman" panose="02020603050405020304" pitchFamily="18" charset="0"/>
              </a:rPr>
              <a:t>This project addresses the problem of analyzing large log files quickly by using multiple threads to identify errors, warnings, and suspicious events.</a:t>
            </a:r>
          </a:p>
          <a:p>
            <a:r>
              <a:rPr lang="en-US" dirty="0">
                <a:latin typeface="Times New Roman" panose="02020603050405020304" pitchFamily="18" charset="0"/>
                <a:cs typeface="Times New Roman" panose="02020603050405020304" pitchFamily="18" charset="0"/>
              </a:rPr>
              <a:t>It demonstrates thread creation, work division, and synchronization of shared data using pthreads.</a:t>
            </a:r>
          </a:p>
          <a:p>
            <a:r>
              <a:rPr lang="en-US" dirty="0">
                <a:latin typeface="Times New Roman" panose="02020603050405020304" pitchFamily="18" charset="0"/>
                <a:cs typeface="Times New Roman" panose="02020603050405020304" pitchFamily="18" charset="0"/>
              </a:rPr>
              <a:t>The project is relevant to Operating Systems and Systems Programming because it connects threads, concurrency control, and file handling with C programming in a Linux environment.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p:cNvSpPr>
            <a:spLocks noGrp="1"/>
          </p:cNvSpPr>
          <p:nvPr>
            <p:ph idx="1"/>
          </p:nvPr>
        </p:nvSpPr>
        <p:spPr/>
        <p:txBody>
          <a:bodyPr>
            <a:normAutofit lnSpcReduction="10000"/>
          </a:bodyPr>
          <a:lstStyle/>
          <a:p>
            <a:pPr lvl="0"/>
            <a:r>
              <a:rPr lang="en-US" dirty="0">
                <a:latin typeface="Times New Roman" panose="02020603050405020304" pitchFamily="18" charset="0"/>
                <a:cs typeface="Times New Roman" panose="02020603050405020304" pitchFamily="18" charset="0"/>
              </a:rPr>
              <a:t>Log files are commonly checked manually using tools such as cat, grep, or a text editor.</a:t>
            </a:r>
          </a:p>
          <a:p>
            <a:pPr lvl="0"/>
            <a:r>
              <a:rPr lang="en-US" dirty="0">
                <a:latin typeface="Times New Roman" panose="02020603050405020304" pitchFamily="18" charset="0"/>
                <a:cs typeface="Times New Roman" panose="02020603050405020304" pitchFamily="18" charset="0"/>
              </a:rPr>
              <a:t>Single-threaded programs read the file line by line, so analysis time grows with file size.</a:t>
            </a:r>
          </a:p>
          <a:p>
            <a:pPr lvl="0"/>
            <a:r>
              <a:rPr lang="en-US" dirty="0">
                <a:latin typeface="Times New Roman" panose="02020603050405020304" pitchFamily="18" charset="0"/>
                <a:cs typeface="Times New Roman" panose="02020603050405020304" pitchFamily="18" charset="0"/>
              </a:rPr>
              <a:t>Very large files can take minutes to process, delaying the detection of critical errors.</a:t>
            </a:r>
          </a:p>
          <a:p>
            <a:pPr lvl="0"/>
            <a:r>
              <a:rPr lang="en-US" dirty="0">
                <a:latin typeface="Times New Roman" panose="02020603050405020304" pitchFamily="18" charset="0"/>
                <a:cs typeface="Times New Roman" panose="02020603050405020304" pitchFamily="18" charset="0"/>
              </a:rPr>
              <a:t>Multi-core CPUs stay under-used because only one core does the work.</a:t>
            </a:r>
          </a:p>
          <a:p>
            <a:pPr lvl="0"/>
            <a:r>
              <a:rPr lang="en-US" dirty="0">
                <a:latin typeface="Times New Roman" panose="02020603050405020304" pitchFamily="18" charset="0"/>
                <a:cs typeface="Times New Roman" panose="02020603050405020304" pitchFamily="18" charset="0"/>
              </a:rPr>
              <a:t>Suspicious events, such as repeated failed logins, are easy to miss in huge files.</a:t>
            </a:r>
          </a:p>
          <a:p>
            <a:pPr lvl="0"/>
            <a:r>
              <a:rPr lang="en-US" dirty="0">
                <a:latin typeface="Times New Roman" panose="02020603050405020304" pitchFamily="18" charset="0"/>
                <a:cs typeface="Times New Roman" panose="02020603050405020304" pitchFamily="18" charset="0"/>
              </a:rPr>
              <a:t>Naive multi-threading without locks leads to race conditions and incorrect counts.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PROPOSED SYSTEM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p:cNvSpPr>
            <a:spLocks noGrp="1"/>
          </p:cNvSpPr>
          <p:nvPr>
            <p:ph idx="1"/>
          </p:nvPr>
        </p:nvSpPr>
        <p:spPr>
          <a:xfrm>
            <a:off x="838200" y="1690688"/>
            <a:ext cx="10515600" cy="4351338"/>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proposed solution is a multi-threaded log analyzer implemented in C on Linux/Ubuntu using POSIX threads, which splits a large log file across worker threads for parallel analysis.</a:t>
            </a:r>
          </a:p>
          <a:p>
            <a:pPr algn="just"/>
            <a:r>
              <a:rPr lang="en-US" dirty="0">
                <a:latin typeface="Times New Roman" panose="02020603050405020304" pitchFamily="18" charset="0"/>
                <a:cs typeface="Times New Roman" panose="02020603050405020304" pitchFamily="18" charset="0"/>
              </a:rPr>
              <a:t>The key objectives of the proposed system are:</a:t>
            </a:r>
          </a:p>
          <a:p>
            <a:pPr lvl="0" algn="just"/>
            <a:r>
              <a:rPr lang="en-US" dirty="0">
                <a:latin typeface="Times New Roman" panose="02020603050405020304" pitchFamily="18" charset="0"/>
                <a:cs typeface="Times New Roman" panose="02020603050405020304" pitchFamily="18" charset="0"/>
              </a:rPr>
              <a:t>Divide a large log file into chunks processed concurrently by multiple threads.</a:t>
            </a:r>
          </a:p>
          <a:p>
            <a:pPr lvl="0" algn="just"/>
            <a:r>
              <a:rPr lang="en-US" dirty="0">
                <a:latin typeface="Times New Roman" panose="02020603050405020304" pitchFamily="18" charset="0"/>
                <a:cs typeface="Times New Roman" panose="02020603050405020304" pitchFamily="18" charset="0"/>
              </a:rPr>
              <a:t>Identify and count ERROR and WARNING entries in each chunk.</a:t>
            </a:r>
          </a:p>
          <a:p>
            <a:pPr lvl="0" algn="just"/>
            <a:r>
              <a:rPr lang="en-US" dirty="0">
                <a:latin typeface="Times New Roman" panose="02020603050405020304" pitchFamily="18" charset="0"/>
                <a:cs typeface="Times New Roman" panose="02020603050405020304" pitchFamily="18" charset="0"/>
              </a:rPr>
              <a:t>Detect suspicious events (failed logins, unauthorized access) using keyword patterns.</a:t>
            </a:r>
          </a:p>
          <a:p>
            <a:pPr lvl="0" algn="just"/>
            <a:r>
              <a:rPr lang="en-US" dirty="0">
                <a:latin typeface="Times New Roman" panose="02020603050405020304" pitchFamily="18" charset="0"/>
                <a:cs typeface="Times New Roman" panose="02020603050405020304" pitchFamily="18" charset="0"/>
              </a:rPr>
              <a:t>Merge thread results safely with mutexes and report a final summary with timing.</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WORK FLOW / STRUCTURE</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8</a:t>
            </a:fld>
            <a:endParaRPr lang="en-US"/>
          </a:p>
        </p:txBody>
      </p:sp>
      <p:sp>
        <p:nvSpPr>
          <p:cNvPr id="20" name="Step1"/>
          <p:cNvSpPr/>
          <p:nvPr/>
        </p:nvSpPr>
        <p:spPr>
          <a:xfrm>
            <a:off x="2446000" y="1400000"/>
            <a:ext cx="7300000" cy="560000"/>
          </a:xfrm>
          <a:prstGeom prst="roundRect">
            <a:avLst>
              <a:gd name="adj" fmla="val 16667"/>
            </a:avLst>
          </a:prstGeom>
          <a:solidFill>
            <a:srgbClr val="DEEBF7"/>
          </a:solidFill>
          <a:ln w="19050">
            <a:solidFill>
              <a:srgbClr val="0070C0"/>
            </a:solidFill>
          </a:ln>
        </p:spPr>
        <p:txBody>
          <a:bodyPr wrap="square" lIns="91440" tIns="9144" rIns="91440" bIns="9144" anchor="ctr">
            <a:normAutofit/>
          </a:bodyPr>
          <a:lstStyle/>
          <a:p>
            <a:pPr algn="ctr"/>
            <a:r>
              <a:rPr lang="en-US" sz="1400" b="1" dirty="0">
                <a:solidFill>
                  <a:srgbClr val="0070C0"/>
                </a:solidFill>
                <a:latin typeface="Times New Roman" panose="02020603050405020304" pitchFamily="18" charset="0"/>
                <a:cs typeface="Times New Roman" panose="02020603050405020304" pitchFamily="18" charset="0"/>
              </a:rPr>
              <a:t>1.  </a:t>
            </a:r>
            <a:r>
              <a:rPr lang="en-US" sz="1400" dirty="0">
                <a:solidFill>
                  <a:srgbClr val="1F1F1F"/>
                </a:solidFill>
                <a:latin typeface="Times New Roman" panose="02020603050405020304" pitchFamily="18" charset="0"/>
                <a:cs typeface="Times New Roman" panose="02020603050405020304" pitchFamily="18" charset="0"/>
              </a:rPr>
              <a:t>User runs the analyzer with a log file and number of threads</a:t>
            </a:r>
          </a:p>
        </p:txBody>
      </p:sp>
      <p:sp>
        <p:nvSpPr>
          <p:cNvPr id="21" name="Arrow1"/>
          <p:cNvSpPr/>
          <p:nvPr/>
        </p:nvSpPr>
        <p:spPr>
          <a:xfrm>
            <a:off x="5896000" y="1960000"/>
            <a:ext cx="400000" cy="170000"/>
          </a:xfrm>
          <a:prstGeom prst="downArrow">
            <a:avLst/>
          </a:prstGeom>
          <a:solidFill>
            <a:srgbClr val="0070C0"/>
          </a:solidFill>
          <a:ln>
            <a:noFill/>
          </a:ln>
        </p:spPr>
        <p:txBody>
          <a:bodyPr/>
          <a:lstStyle/>
          <a:p>
            <a:endParaRPr lang="en-US"/>
          </a:p>
        </p:txBody>
      </p:sp>
      <p:sp>
        <p:nvSpPr>
          <p:cNvPr id="22" name="Step2"/>
          <p:cNvSpPr/>
          <p:nvPr/>
        </p:nvSpPr>
        <p:spPr>
          <a:xfrm>
            <a:off x="2446000" y="2130000"/>
            <a:ext cx="7300000" cy="560000"/>
          </a:xfrm>
          <a:prstGeom prst="roundRect">
            <a:avLst>
              <a:gd name="adj" fmla="val 16667"/>
            </a:avLst>
          </a:prstGeom>
          <a:solidFill>
            <a:srgbClr val="DEEBF7"/>
          </a:solidFill>
          <a:ln w="19050">
            <a:solidFill>
              <a:srgbClr val="0070C0"/>
            </a:solidFill>
          </a:ln>
        </p:spPr>
        <p:txBody>
          <a:bodyPr wrap="square" lIns="91440" tIns="9144" rIns="91440" bIns="9144" anchor="ctr">
            <a:normAutofit/>
          </a:bodyPr>
          <a:lstStyle/>
          <a:p>
            <a:pPr algn="ctr"/>
            <a:r>
              <a:rPr lang="en-US" sz="1400" b="1" dirty="0">
                <a:solidFill>
                  <a:srgbClr val="0070C0"/>
                </a:solidFill>
                <a:latin typeface="Times New Roman" panose="02020603050405020304" pitchFamily="18" charset="0"/>
                <a:cs typeface="Times New Roman" panose="02020603050405020304" pitchFamily="18" charset="0"/>
              </a:rPr>
              <a:t>2.  </a:t>
            </a:r>
            <a:r>
              <a:rPr lang="en-US" sz="1400" dirty="0">
                <a:solidFill>
                  <a:srgbClr val="1F1F1F"/>
                </a:solidFill>
                <a:latin typeface="Times New Roman" panose="02020603050405020304" pitchFamily="18" charset="0"/>
                <a:cs typeface="Times New Roman" panose="02020603050405020304" pitchFamily="18" charset="0"/>
              </a:rPr>
              <a:t>Main thread reads the file size and splits it into chunks</a:t>
            </a:r>
          </a:p>
        </p:txBody>
      </p:sp>
      <p:sp>
        <p:nvSpPr>
          <p:cNvPr id="23" name="Arrow2"/>
          <p:cNvSpPr/>
          <p:nvPr/>
        </p:nvSpPr>
        <p:spPr>
          <a:xfrm>
            <a:off x="5896000" y="2690000"/>
            <a:ext cx="400000" cy="170000"/>
          </a:xfrm>
          <a:prstGeom prst="downArrow">
            <a:avLst/>
          </a:prstGeom>
          <a:solidFill>
            <a:srgbClr val="0070C0"/>
          </a:solidFill>
          <a:ln>
            <a:noFill/>
          </a:ln>
        </p:spPr>
        <p:txBody>
          <a:bodyPr/>
          <a:lstStyle/>
          <a:p>
            <a:endParaRPr lang="en-US"/>
          </a:p>
        </p:txBody>
      </p:sp>
      <p:sp>
        <p:nvSpPr>
          <p:cNvPr id="24" name="Step3"/>
          <p:cNvSpPr/>
          <p:nvPr/>
        </p:nvSpPr>
        <p:spPr>
          <a:xfrm>
            <a:off x="2446000" y="2860000"/>
            <a:ext cx="7300000" cy="560000"/>
          </a:xfrm>
          <a:prstGeom prst="roundRect">
            <a:avLst>
              <a:gd name="adj" fmla="val 16667"/>
            </a:avLst>
          </a:prstGeom>
          <a:solidFill>
            <a:srgbClr val="DEEBF7"/>
          </a:solidFill>
          <a:ln w="19050">
            <a:solidFill>
              <a:srgbClr val="0070C0"/>
            </a:solidFill>
          </a:ln>
        </p:spPr>
        <p:txBody>
          <a:bodyPr wrap="square" lIns="91440" tIns="9144" rIns="91440" bIns="9144" anchor="ctr">
            <a:normAutofit/>
          </a:bodyPr>
          <a:lstStyle/>
          <a:p>
            <a:pPr algn="ctr"/>
            <a:r>
              <a:rPr lang="en-US" sz="1400" b="1" dirty="0">
                <a:solidFill>
                  <a:srgbClr val="0070C0"/>
                </a:solidFill>
                <a:latin typeface="Times New Roman" panose="02020603050405020304" pitchFamily="18" charset="0"/>
                <a:cs typeface="Times New Roman" panose="02020603050405020304" pitchFamily="18" charset="0"/>
              </a:rPr>
              <a:t>3.  </a:t>
            </a:r>
            <a:r>
              <a:rPr lang="en-US" sz="1400" dirty="0">
                <a:solidFill>
                  <a:srgbClr val="1F1F1F"/>
                </a:solidFill>
                <a:latin typeface="Times New Roman" panose="02020603050405020304" pitchFamily="18" charset="0"/>
                <a:cs typeface="Times New Roman" panose="02020603050405020304" pitchFamily="18" charset="0"/>
              </a:rPr>
              <a:t>Worker threads are created, one per chunk (pthread_create)</a:t>
            </a:r>
          </a:p>
        </p:txBody>
      </p:sp>
      <p:sp>
        <p:nvSpPr>
          <p:cNvPr id="25" name="Arrow3"/>
          <p:cNvSpPr/>
          <p:nvPr/>
        </p:nvSpPr>
        <p:spPr>
          <a:xfrm>
            <a:off x="5896000" y="3420000"/>
            <a:ext cx="400000" cy="170000"/>
          </a:xfrm>
          <a:prstGeom prst="downArrow">
            <a:avLst/>
          </a:prstGeom>
          <a:solidFill>
            <a:srgbClr val="0070C0"/>
          </a:solidFill>
          <a:ln>
            <a:noFill/>
          </a:ln>
        </p:spPr>
        <p:txBody>
          <a:bodyPr/>
          <a:lstStyle/>
          <a:p>
            <a:endParaRPr lang="en-US"/>
          </a:p>
        </p:txBody>
      </p:sp>
      <p:sp>
        <p:nvSpPr>
          <p:cNvPr id="26" name="Step4"/>
          <p:cNvSpPr/>
          <p:nvPr/>
        </p:nvSpPr>
        <p:spPr>
          <a:xfrm>
            <a:off x="2446000" y="3590000"/>
            <a:ext cx="7300000" cy="560000"/>
          </a:xfrm>
          <a:prstGeom prst="roundRect">
            <a:avLst>
              <a:gd name="adj" fmla="val 16667"/>
            </a:avLst>
          </a:prstGeom>
          <a:solidFill>
            <a:srgbClr val="DEEBF7"/>
          </a:solidFill>
          <a:ln w="19050">
            <a:solidFill>
              <a:srgbClr val="0070C0"/>
            </a:solidFill>
          </a:ln>
        </p:spPr>
        <p:txBody>
          <a:bodyPr wrap="square" lIns="91440" tIns="9144" rIns="91440" bIns="9144" anchor="ctr">
            <a:normAutofit/>
          </a:bodyPr>
          <a:lstStyle/>
          <a:p>
            <a:pPr algn="ctr"/>
            <a:r>
              <a:rPr lang="en-US" sz="1400" b="1" dirty="0">
                <a:solidFill>
                  <a:srgbClr val="0070C0"/>
                </a:solidFill>
                <a:latin typeface="Times New Roman" panose="02020603050405020304" pitchFamily="18" charset="0"/>
                <a:cs typeface="Times New Roman" panose="02020603050405020304" pitchFamily="18" charset="0"/>
              </a:rPr>
              <a:t>4.  </a:t>
            </a:r>
            <a:r>
              <a:rPr lang="en-US" sz="1400" dirty="0">
                <a:solidFill>
                  <a:srgbClr val="1F1F1F"/>
                </a:solidFill>
                <a:latin typeface="Times New Roman" panose="02020603050405020304" pitchFamily="18" charset="0"/>
                <a:cs typeface="Times New Roman" panose="02020603050405020304" pitchFamily="18" charset="0"/>
              </a:rPr>
              <a:t>Each thread scans its lines for ERROR, WARNING, and suspicious patterns</a:t>
            </a:r>
          </a:p>
        </p:txBody>
      </p:sp>
      <p:sp>
        <p:nvSpPr>
          <p:cNvPr id="27" name="Arrow4"/>
          <p:cNvSpPr/>
          <p:nvPr/>
        </p:nvSpPr>
        <p:spPr>
          <a:xfrm>
            <a:off x="5896000" y="4150000"/>
            <a:ext cx="400000" cy="170000"/>
          </a:xfrm>
          <a:prstGeom prst="downArrow">
            <a:avLst/>
          </a:prstGeom>
          <a:solidFill>
            <a:srgbClr val="0070C0"/>
          </a:solidFill>
          <a:ln>
            <a:noFill/>
          </a:ln>
        </p:spPr>
        <p:txBody>
          <a:bodyPr/>
          <a:lstStyle/>
          <a:p>
            <a:endParaRPr lang="en-US"/>
          </a:p>
        </p:txBody>
      </p:sp>
      <p:sp>
        <p:nvSpPr>
          <p:cNvPr id="28" name="Step5"/>
          <p:cNvSpPr/>
          <p:nvPr/>
        </p:nvSpPr>
        <p:spPr>
          <a:xfrm>
            <a:off x="2446000" y="4320000"/>
            <a:ext cx="7300000" cy="560000"/>
          </a:xfrm>
          <a:prstGeom prst="roundRect">
            <a:avLst>
              <a:gd name="adj" fmla="val 16667"/>
            </a:avLst>
          </a:prstGeom>
          <a:solidFill>
            <a:srgbClr val="DEEBF7"/>
          </a:solidFill>
          <a:ln w="19050">
            <a:solidFill>
              <a:srgbClr val="0070C0"/>
            </a:solidFill>
          </a:ln>
        </p:spPr>
        <p:txBody>
          <a:bodyPr wrap="square" lIns="91440" tIns="9144" rIns="91440" bIns="9144" anchor="ctr">
            <a:normAutofit/>
          </a:bodyPr>
          <a:lstStyle/>
          <a:p>
            <a:pPr algn="ctr"/>
            <a:r>
              <a:rPr lang="en-US" sz="1400" b="1" dirty="0">
                <a:solidFill>
                  <a:srgbClr val="0070C0"/>
                </a:solidFill>
                <a:latin typeface="Times New Roman" panose="02020603050405020304" pitchFamily="18" charset="0"/>
                <a:cs typeface="Times New Roman" panose="02020603050405020304" pitchFamily="18" charset="0"/>
              </a:rPr>
              <a:t>5.  </a:t>
            </a:r>
            <a:r>
              <a:rPr lang="en-US" sz="1400" dirty="0">
                <a:solidFill>
                  <a:srgbClr val="1F1F1F"/>
                </a:solidFill>
                <a:latin typeface="Times New Roman" panose="02020603050405020304" pitchFamily="18" charset="0"/>
                <a:cs typeface="Times New Roman" panose="02020603050405020304" pitchFamily="18" charset="0"/>
              </a:rPr>
              <a:t>Shared counters and findings are updated under a mutex lock</a:t>
            </a:r>
          </a:p>
        </p:txBody>
      </p:sp>
      <p:sp>
        <p:nvSpPr>
          <p:cNvPr id="29" name="Arrow5"/>
          <p:cNvSpPr/>
          <p:nvPr/>
        </p:nvSpPr>
        <p:spPr>
          <a:xfrm>
            <a:off x="5896000" y="4880000"/>
            <a:ext cx="400000" cy="170000"/>
          </a:xfrm>
          <a:prstGeom prst="downArrow">
            <a:avLst/>
          </a:prstGeom>
          <a:solidFill>
            <a:srgbClr val="0070C0"/>
          </a:solidFill>
          <a:ln>
            <a:noFill/>
          </a:ln>
        </p:spPr>
        <p:txBody>
          <a:bodyPr/>
          <a:lstStyle/>
          <a:p>
            <a:endParaRPr lang="en-US"/>
          </a:p>
        </p:txBody>
      </p:sp>
      <p:sp>
        <p:nvSpPr>
          <p:cNvPr id="30" name="Step6"/>
          <p:cNvSpPr/>
          <p:nvPr/>
        </p:nvSpPr>
        <p:spPr>
          <a:xfrm>
            <a:off x="2446000" y="5050000"/>
            <a:ext cx="7300000" cy="560000"/>
          </a:xfrm>
          <a:prstGeom prst="roundRect">
            <a:avLst>
              <a:gd name="adj" fmla="val 16667"/>
            </a:avLst>
          </a:prstGeom>
          <a:solidFill>
            <a:srgbClr val="DEEBF7"/>
          </a:solidFill>
          <a:ln w="19050">
            <a:solidFill>
              <a:srgbClr val="0070C0"/>
            </a:solidFill>
          </a:ln>
        </p:spPr>
        <p:txBody>
          <a:bodyPr wrap="square" lIns="91440" tIns="9144" rIns="91440" bIns="9144" anchor="ctr">
            <a:normAutofit/>
          </a:bodyPr>
          <a:lstStyle/>
          <a:p>
            <a:pPr algn="ctr"/>
            <a:r>
              <a:rPr lang="en-US" sz="1400" b="1" dirty="0">
                <a:solidFill>
                  <a:srgbClr val="0070C0"/>
                </a:solidFill>
                <a:latin typeface="Times New Roman" panose="02020603050405020304" pitchFamily="18" charset="0"/>
                <a:cs typeface="Times New Roman" panose="02020603050405020304" pitchFamily="18" charset="0"/>
              </a:rPr>
              <a:t>6.  </a:t>
            </a:r>
            <a:r>
              <a:rPr lang="en-US" sz="1400" dirty="0">
                <a:solidFill>
                  <a:srgbClr val="1F1F1F"/>
                </a:solidFill>
                <a:latin typeface="Times New Roman" panose="02020603050405020304" pitchFamily="18" charset="0"/>
                <a:cs typeface="Times New Roman" panose="02020603050405020304" pitchFamily="18" charset="0"/>
              </a:rPr>
              <a:t>Main thread waits for all threads (pthread_join) and merges results</a:t>
            </a:r>
          </a:p>
        </p:txBody>
      </p:sp>
      <p:sp>
        <p:nvSpPr>
          <p:cNvPr id="31" name="Arrow6"/>
          <p:cNvSpPr/>
          <p:nvPr/>
        </p:nvSpPr>
        <p:spPr>
          <a:xfrm>
            <a:off x="5896000" y="5610000"/>
            <a:ext cx="400000" cy="170000"/>
          </a:xfrm>
          <a:prstGeom prst="downArrow">
            <a:avLst/>
          </a:prstGeom>
          <a:solidFill>
            <a:srgbClr val="0070C0"/>
          </a:solidFill>
          <a:ln>
            <a:noFill/>
          </a:ln>
        </p:spPr>
        <p:txBody>
          <a:bodyPr/>
          <a:lstStyle/>
          <a:p>
            <a:endParaRPr lang="en-US"/>
          </a:p>
        </p:txBody>
      </p:sp>
      <p:sp>
        <p:nvSpPr>
          <p:cNvPr id="32" name="Step7"/>
          <p:cNvSpPr/>
          <p:nvPr/>
        </p:nvSpPr>
        <p:spPr>
          <a:xfrm>
            <a:off x="2446000" y="5780000"/>
            <a:ext cx="7300000" cy="560000"/>
          </a:xfrm>
          <a:prstGeom prst="roundRect">
            <a:avLst>
              <a:gd name="adj" fmla="val 16667"/>
            </a:avLst>
          </a:prstGeom>
          <a:solidFill>
            <a:srgbClr val="DEEBF7"/>
          </a:solidFill>
          <a:ln w="19050">
            <a:solidFill>
              <a:srgbClr val="0070C0"/>
            </a:solidFill>
          </a:ln>
        </p:spPr>
        <p:txBody>
          <a:bodyPr wrap="square" lIns="91440" tIns="9144" rIns="91440" bIns="9144" anchor="ctr">
            <a:normAutofit/>
          </a:bodyPr>
          <a:lstStyle/>
          <a:p>
            <a:pPr algn="ctr"/>
            <a:r>
              <a:rPr lang="en-US" sz="1400" b="1" dirty="0">
                <a:solidFill>
                  <a:srgbClr val="0070C0"/>
                </a:solidFill>
                <a:latin typeface="Times New Roman" panose="02020603050405020304" pitchFamily="18" charset="0"/>
                <a:cs typeface="Times New Roman" panose="02020603050405020304" pitchFamily="18" charset="0"/>
              </a:rPr>
              <a:t>7.  </a:t>
            </a:r>
            <a:r>
              <a:rPr lang="en-US" sz="1400" dirty="0">
                <a:solidFill>
                  <a:srgbClr val="1F1F1F"/>
                </a:solidFill>
                <a:latin typeface="Times New Roman" panose="02020603050405020304" pitchFamily="18" charset="0"/>
                <a:cs typeface="Times New Roman" panose="02020603050405020304" pitchFamily="18" charset="0"/>
              </a:rPr>
              <a:t>Final report of errors, warnings, suspicious events, and time is shown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SOFTWARE REQUIREMENTS</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p:cNvSpPr>
            <a:spLocks noGrp="1"/>
          </p:cNvSpPr>
          <p:nvPr>
            <p:ph idx="1"/>
          </p:nvPr>
        </p:nvSpPr>
        <p:spPr/>
        <p:txBody>
          <a:bodyPr/>
          <a:lstStyle/>
          <a:p>
            <a:pPr lvl="0"/>
            <a:r>
              <a:rPr lang="en-US" b="1" dirty="0"/>
              <a:t>Operating System:</a:t>
            </a:r>
            <a:r>
              <a:rPr lang="en-US" dirty="0"/>
              <a:t> Linux / Ubuntu </a:t>
            </a:r>
          </a:p>
          <a:p>
            <a:pPr lvl="0"/>
            <a:r>
              <a:rPr lang="en-US" b="1" dirty="0"/>
              <a:t>Programming Language:</a:t>
            </a:r>
            <a:r>
              <a:rPr lang="en-US" dirty="0"/>
              <a:t> C </a:t>
            </a:r>
          </a:p>
          <a:p>
            <a:pPr lvl="0"/>
            <a:r>
              <a:rPr lang="en-US" b="1" dirty="0"/>
              <a:t>Threading Library:</a:t>
            </a:r>
            <a:r>
              <a:rPr lang="en-US" dirty="0"/>
              <a:t> POSIX Threads (pthreads) </a:t>
            </a:r>
          </a:p>
          <a:p>
            <a:pPr lvl="0"/>
            <a:r>
              <a:rPr lang="en-US" b="1" dirty="0"/>
              <a:t>Compiler:</a:t>
            </a:r>
            <a:r>
              <a:rPr lang="en-US" dirty="0"/>
              <a:t> GCC (with -pthread flag) </a:t>
            </a:r>
          </a:p>
          <a:p>
            <a:pPr lvl="0"/>
            <a:r>
              <a:rPr lang="en-US" b="1" dirty="0"/>
              <a:t>Development Tool:</a:t>
            </a:r>
            <a:r>
              <a:rPr lang="en-US" dirty="0"/>
              <a:t> VS Code </a:t>
            </a:r>
          </a:p>
          <a:p>
            <a:pPr lvl="0"/>
            <a:r>
              <a:rPr lang="en-US" b="1" dirty="0"/>
              <a:t>Build Command:</a:t>
            </a:r>
            <a:r>
              <a:rPr lang="en-US" dirty="0"/>
              <a:t> gcc -pthread -o log_analyzer log_analyzer.c </a:t>
            </a:r>
          </a:p>
          <a:p>
            <a:pPr lvl="0"/>
            <a:r>
              <a:rPr lang="en-US" b="1" dirty="0"/>
              <a:t>Version Control:</a:t>
            </a:r>
            <a:r>
              <a:rPr lang="en-US" dirty="0"/>
              <a:t> Git &amp; GitHub</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t>10</a:t>
            </a:fld>
            <a:endParaRPr lang="en-US" dirty="0"/>
          </a:p>
        </p:txBody>
      </p:sp>
      <p:sp>
        <p:nvSpPr>
          <p:cNvPr id="3" name="TextBox 2"/>
          <p:cNvSpPr txBox="1"/>
          <p:nvPr/>
        </p:nvSpPr>
        <p:spPr>
          <a:xfrm>
            <a:off x="539827" y="1299990"/>
            <a:ext cx="10256703" cy="5539978"/>
          </a:xfrm>
          <a:prstGeom prst="rect">
            <a:avLst/>
          </a:prstGeom>
          <a:noFill/>
        </p:spPr>
        <p:txBody>
          <a:bodyPr wrap="square" rtlCol="0">
            <a:spAutoFit/>
          </a:bodyPr>
          <a:lstStyle/>
          <a:p>
            <a:r>
              <a:rPr lang="en-US" sz="2400" b="1" dirty="0"/>
              <a:t>Conclusion</a:t>
            </a:r>
          </a:p>
          <a:p>
            <a:pPr algn="just"/>
            <a:r>
              <a:rPr lang="en-US" sz="2400" dirty="0">
                <a:latin typeface="Times New Roman" panose="02020603050405020304" pitchFamily="18" charset="0"/>
                <a:cs typeface="Times New Roman" panose="02020603050405020304" pitchFamily="18" charset="0"/>
              </a:rPr>
              <a:t>Multi-threaded Log Analysis System is a Linux-based systems programming project that uses pthreads to analyze large log files in parallel and identify errors, warnings, and suspicious events. It shows how work division and mutex synchronization speed up analysis while keeping results correct, giving a practical understanding of threads, concurrency, and file processing.</a:t>
            </a:r>
            <a:endParaRPr lang="en-US" sz="2400" dirty="0"/>
          </a:p>
          <a:p>
            <a:r>
              <a:rPr lang="en-US" sz="2400" b="1" dirty="0">
                <a:latin typeface="Times New Roman" panose="02020603050405020304" pitchFamily="18" charset="0"/>
                <a:cs typeface="Times New Roman" panose="02020603050405020304" pitchFamily="18" charset="0"/>
              </a:rPr>
              <a:t>Future Scope</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Thread pool with a producer–consumer queue for dynamic load balancing.</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Real-time log monitoring and alerting.</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Configurable rules and regex-based pattern detection.</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Exporting reports (CSV/JSON) and dashboard visualization.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p:cNvSpPr>
            <a:spLocks noGrp="1"/>
          </p:cNvSpPr>
          <p:nvPr>
            <p:ph type="sldNum" sz="quarter" idx="12"/>
          </p:nvPr>
        </p:nvSpPr>
        <p:spPr/>
        <p:txBody>
          <a:bodyPr/>
          <a:lstStyle/>
          <a:p>
            <a:fld id="{B961B71F-4B40-8942-BB88-E0F5C0B46E10}" type="slidenum">
              <a:rPr lang="en-US" smtClean="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902</Words>
  <Application>Microsoft Office PowerPoint</Application>
  <PresentationFormat>Widescreen</PresentationFormat>
  <Paragraphs>114</Paragraphs>
  <Slides>11</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Arial</vt:lpstr>
      <vt:lpstr>Calibri</vt:lpstr>
      <vt:lpstr>Calibri Light</vt:lpstr>
      <vt:lpstr>Times New Roman</vt:lpstr>
      <vt:lpstr>Wingdings</vt:lpstr>
      <vt:lpstr>Office Theme</vt:lpstr>
      <vt:lpstr>Custom Design</vt:lpstr>
      <vt:lpstr> 1st  REVIEW Multi-threaded Log Analysis System </vt:lpstr>
      <vt:lpstr>TEAM NUMBER: 18  |  SECTION 4</vt:lpstr>
      <vt:lpstr>ABSTRACT</vt:lpstr>
      <vt:lpstr>INTRODUCTION</vt:lpstr>
      <vt:lpstr>PROBLEM STATEMENT</vt:lpstr>
      <vt:lpstr>EXISTING SYSTEM</vt:lpstr>
      <vt:lpstr>PROPOSED SYSTEM</vt:lpstr>
      <vt:lpstr>WORK FLOW / STRUCTURE</vt:lpstr>
      <vt:lpstr>SOFTWARE REQUIREMENTS</vt:lpstr>
      <vt:lpstr>CONCLUSION AND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sk junaid</cp:lastModifiedBy>
  <cp:revision>96</cp:revision>
  <dcterms:created xsi:type="dcterms:W3CDTF">2022-05-20T10:20:00Z</dcterms:created>
  <dcterms:modified xsi:type="dcterms:W3CDTF">2026-10-17T05:32:05Z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932D897661D2482D8613DBE98A28439B_13</vt:lpwstr>
  </property>
  <property fmtid="{D5CDD505-2E9C-101B-9397-08002B2CF9AE}" pid="3" name="KSOProductBuildVer">
    <vt:lpwstr>1033-12.1.0.28485</vt:lpwstr>
  </property>
</Properties>
</file>